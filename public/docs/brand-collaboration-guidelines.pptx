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>
      <p:cViewPr varScale="1">
        <p:scale>
          <a:sx n="107" d="100"/>
          <a:sy n="107" d="100"/>
        </p:scale>
        <p:origin x="736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大家好，欢迎参加本次关于喜马拉雅儿童内容合作品牌规范的介绍。今天我们将详细解读合作中品牌露出的各项要求，确保我们的合作方能够准确、规范地展示喜马拉雅儿童的品牌形象，共同维护品牌价值。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首先，我们来看一下核心的品牌露出宗旨。这是所有合作的基础，必须严格遵守。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第一，所有节目内容都必须清晰地注明来源是“喜马拉雅儿童APP”，并且这个标注的位置一定要醒目，让用户能够一眼看到。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第二，如果合作方设置了喜马拉雅的专区入口，那么在入口处必须同时展示我们的“听”图标和“喜马拉雅专区”的文字，并且，在所有相关的节目封面上，都必须加上喜马拉雅儿童的角标。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这两点是确保品牌正确露出的关键，请大家务必注意。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接下来是关于建议的品牌露出方式，主要针对“独家专区入口”和“首页”这两个重要位置。在专区入口的设计上，我们建议大家突出我们的品牌色和“听”图标，入口的标题可以用“喜马拉雅儿童听书专区”这样的表述，让用户一目了然。而在合作方的首页推荐位，比如轮播图或者精品推荐区，如果推荐我们的内容，也请务必在素材上加上我们的品牌标识，并在文案中提到“喜马拉雅儿童”。最重要的是，所有这些品牌元素的使用，都必须和我们官方的规范保持一致，这样才能共同维护好我们的品牌形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接下来是关于建议的品牌露出方式，主要针对“独家专区入口”和“首页”这两个重要位置。在专区入口的设计上，我们建议大家突出我们的品牌色和“听”图标，入口的标题可以用“喜马拉雅儿童听书专区”这样的表述，让用户一目了然。而在合作方的首页推荐位，比如轮播图或者精品推荐区，如果推荐我们的内容，也请务必在素材上加上我们的品牌标识，并在文案中提到“喜马拉雅儿童”。最重要的是，所有这些品牌元素的使用，都必须和我们官方的规范保持一致，这样才能共同维护好我们的品牌形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4766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1708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90792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jpe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jp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200" y="1778000"/>
            <a:ext cx="609600" cy="6096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1016000" y="292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喜马拉雅儿童 内容合作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69">
            <a:off x="5588040" y="380365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FF66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406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7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品牌合作规范指南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71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Himalaya Kids Brand Guidelines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6229" y="1145557"/>
            <a:ext cx="1559543" cy="1559543"/>
          </a:xfrm>
          <a:prstGeom prst="roundRect">
            <a:avLst>
              <a:gd name="adj" fmla="val 19262"/>
            </a:avLst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核心品牌露出宗旨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4247444"/>
          </a:xfrm>
          <a:prstGeom prst="roundRect">
            <a:avLst>
              <a:gd name="adj" fmla="val 29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76200"/>
          </a:xfrm>
          <a:prstGeom prst="roundRect">
            <a:avLst>
              <a:gd name="adj" fmla="val 0"/>
            </a:avLst>
          </a:prstGeom>
          <a:solidFill>
            <a:srgbClr val="FF66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413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2438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内容来源标注规范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0110">
            <a:off x="1143009" y="3105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350000" y="2032000"/>
            <a:ext cx="5080000" cy="4247444"/>
          </a:xfrm>
          <a:prstGeom prst="roundRect">
            <a:avLst>
              <a:gd name="adj" fmla="val 29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350000" y="2032000"/>
            <a:ext cx="5080000" cy="76200"/>
          </a:xfrm>
          <a:prstGeom prst="roundRect">
            <a:avLst>
              <a:gd name="adj" fmla="val 0"/>
            </a:avLst>
          </a:prstGeom>
          <a:solidFill>
            <a:srgbClr val="FF66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2413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2438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专区入口与角标规范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0110">
            <a:off x="6731009" y="3105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731000" y="29464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专区入口：必须呈现喜马拉雅儿童icon和“喜马拉雅儿童专区”文字。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节目封面：必须添加喜马拉雅儿童专属角标。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8795" y="4676995"/>
            <a:ext cx="1060009" cy="1060009"/>
          </a:xfrm>
          <a:prstGeom prst="roundRect">
            <a:avLst>
              <a:gd name="adj" fmla="val 21107"/>
            </a:avLst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936978" y="3613150"/>
            <a:ext cx="41910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“内容来自：喜马拉雅儿童APP”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22595" y="4155722"/>
            <a:ext cx="2971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B9EA2"/>
                </a:solidFill>
                <a:latin typeface="Noto Sans SC"/>
                <a:ea typeface="Noto Sans SC"/>
                <a:cs typeface="Noto Sans SC"/>
                <a:sym typeface="Noto Sans SC"/>
              </a:rPr>
              <a:t> 标注位置需醒目，确保用户一眼可见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43000" y="24765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所有节目内容必须清晰注明来源：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339850" y="5793154"/>
            <a:ext cx="1130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方形圆角 icon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 rot="5399999">
            <a:off x="9639788" y="4650642"/>
            <a:ext cx="1369646" cy="1448777"/>
          </a:xfrm>
          <a:prstGeom prst="rtTriangle">
            <a:avLst/>
          </a:prstGeom>
          <a:solidFill>
            <a:srgbClr val="FFD346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 rot="-2626862">
            <a:off x="9580493" y="5045028"/>
            <a:ext cx="1143000" cy="292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喜马拉雅儿童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881804" y="5793154"/>
            <a:ext cx="7747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圆形 icon</a:t>
            </a:r>
            <a:endParaRPr lang="en-US" sz="1100"/>
          </a:p>
        </p:txBody>
      </p:sp>
      <p:grpSp>
        <p:nvGrpSpPr>
          <p:cNvPr id="22" name="Group 22"/>
          <p:cNvGrpSpPr/>
          <p:nvPr/>
        </p:nvGrpSpPr>
        <p:grpSpPr>
          <a:xfrm>
            <a:off x="3683000" y="4620846"/>
            <a:ext cx="1172308" cy="1172308"/>
            <a:chOff x="3683000" y="4620846"/>
            <a:chExt cx="1172308" cy="1172308"/>
          </a:xfrm>
        </p:grpSpPr>
        <p:sp>
          <p:nvSpPr>
            <p:cNvPr id="23" name="AutoShape 23"/>
            <p:cNvSpPr/>
            <p:nvPr/>
          </p:nvSpPr>
          <p:spPr>
            <a:xfrm>
              <a:off x="3683000" y="4620846"/>
              <a:ext cx="1172308" cy="1172308"/>
            </a:xfrm>
            <a:prstGeom prst="ellipse">
              <a:avLst/>
            </a:prstGeom>
            <a:solidFill>
              <a:srgbClr val="FEDC18">
                <a:alpha val="100000"/>
              </a:srgbClr>
            </a:solidFill>
            <a:ln w="25400">
              <a:noFill/>
              <a:prstDash val="solid"/>
            </a:ln>
          </p:spPr>
          <p:txBody>
            <a:bodyPr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10000" y="4747846"/>
              <a:ext cx="918308" cy="918308"/>
            </a:xfrm>
            <a:prstGeom prst="roundRect">
              <a:avLst>
                <a:gd name="adj" fmla="val 31038"/>
              </a:avLst>
            </a:prstGeom>
            <a:ln w="12700">
              <a:noFill/>
              <a:prstDash val="solid"/>
            </a:ln>
          </p:spPr>
        </p:pic>
      </p:grpSp>
      <p:sp>
        <p:nvSpPr>
          <p:cNvPr id="25" name="AutoShape 25"/>
          <p:cNvSpPr/>
          <p:nvPr/>
        </p:nvSpPr>
        <p:spPr>
          <a:xfrm>
            <a:off x="6930736" y="4851400"/>
            <a:ext cx="2161487" cy="738909"/>
          </a:xfrm>
          <a:prstGeom prst="roundRect">
            <a:avLst/>
          </a:prstGeom>
          <a:solidFill>
            <a:srgbClr val="FFD346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喜马拉雅儿童专区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儿童 VIP 会员标识露出规范：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2444780" cy="53708"/>
          </a:xfrm>
          <a:prstGeom prst="roundRect">
            <a:avLst>
              <a:gd name="adj" fmla="val 0"/>
            </a:avLst>
          </a:prstGeom>
          <a:solidFill>
            <a:srgbClr val="FF66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20273"/>
            <a:ext cx="5020733" cy="4541804"/>
          </a:xfrm>
          <a:prstGeom prst="roundRect">
            <a:avLst>
              <a:gd name="adj" fmla="val 279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300" y="1932709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11300" y="1907309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儿童 VIP 专辑角标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816">
            <a:off x="1003314" y="2447059"/>
            <a:ext cx="294664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15209" y="3908692"/>
            <a:ext cx="939800" cy="34969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072423" y="2518864"/>
            <a:ext cx="1600200" cy="347904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3419675" y="5026713"/>
            <a:ext cx="322385" cy="224692"/>
          </a:xfrm>
          <a:prstGeom prst="roundRect">
            <a:avLst/>
          </a:prstGeom>
          <a:noFill/>
          <a:ln w="25400" cap="flat" cmpd="sng">
            <a:solidFill>
              <a:srgbClr val="FF660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5080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096000" y="1730153"/>
            <a:ext cx="5247409" cy="4531923"/>
          </a:xfrm>
          <a:prstGeom prst="roundRect">
            <a:avLst>
              <a:gd name="adj" fmla="val 28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3891" y="193675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31891" y="191135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儿童 VIP 身份标识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641">
            <a:off x="6423904" y="2451100"/>
            <a:ext cx="320055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921115" y="3705492"/>
            <a:ext cx="1039628" cy="378047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446877" y="2534116"/>
            <a:ext cx="1592613" cy="344853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9149506" y="3342054"/>
            <a:ext cx="322385" cy="224692"/>
          </a:xfrm>
          <a:prstGeom prst="roundRect">
            <a:avLst/>
          </a:prstGeom>
          <a:noFill/>
          <a:ln w="25400" cap="flat" cmpd="sng">
            <a:solidFill>
              <a:srgbClr val="FF660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50800" bIns="63500" rtlCol="0" anchor="ctr" anchorCtr="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建议品牌露出：声音播放页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6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923367" y="3035300"/>
            <a:ext cx="22860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在声音播放页必须标注： 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275" b="275"/>
          <a:stretch>
            <a:fillRect/>
          </a:stretch>
        </p:blipFill>
        <p:spPr>
          <a:xfrm>
            <a:off x="2126047" y="1524000"/>
            <a:ext cx="2285423" cy="494145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4923367" y="1981200"/>
            <a:ext cx="6858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情景三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23367" y="4210627"/>
            <a:ext cx="5588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B9EA2"/>
                </a:solidFill>
                <a:latin typeface="Noto Sans SC"/>
                <a:ea typeface="Noto Sans SC"/>
                <a:cs typeface="Noto Sans SC"/>
                <a:sym typeface="Noto Sans SC"/>
              </a:rPr>
              <a:t>标注的文字中必须包含“儿童 App icon”+ 文字内容 “内容由喜马拉雅儿童  APP”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520267" y="3565814"/>
            <a:ext cx="4457700" cy="419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内容来自：喜马拉雅儿童 APP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23367" y="3550227"/>
            <a:ext cx="527050" cy="527050"/>
          </a:xfrm>
          <a:prstGeom prst="roundRect">
            <a:avLst>
              <a:gd name="adj" fmla="val 24072"/>
            </a:avLst>
          </a:prstGeom>
          <a:ln w="12700">
            <a:noFill/>
            <a:prstDash val="solid"/>
          </a:ln>
        </p:spPr>
      </p:pic>
      <p:sp>
        <p:nvSpPr>
          <p:cNvPr id="10" name="AutoShape 10"/>
          <p:cNvSpPr/>
          <p:nvPr/>
        </p:nvSpPr>
        <p:spPr>
          <a:xfrm>
            <a:off x="2759672" y="4115674"/>
            <a:ext cx="125730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内容来自:喜马拉雅儿童 App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58645" y="4100695"/>
            <a:ext cx="182359" cy="182359"/>
          </a:xfrm>
          <a:prstGeom prst="roundRect">
            <a:avLst>
              <a:gd name="adj" fmla="val 23220"/>
            </a:avLst>
          </a:prstGeom>
          <a:ln w="12700">
            <a:noFill/>
            <a:prstDash val="solid"/>
          </a:ln>
        </p:spPr>
      </p:pic>
      <p:sp>
        <p:nvSpPr>
          <p:cNvPr id="12" name="AutoShape 12"/>
          <p:cNvSpPr/>
          <p:nvPr/>
        </p:nvSpPr>
        <p:spPr>
          <a:xfrm>
            <a:off x="2384136" y="3994727"/>
            <a:ext cx="1789545" cy="444500"/>
          </a:xfrm>
          <a:prstGeom prst="roundRect">
            <a:avLst/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9E8F04F0-92DE-5049-9183-7351D304F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3966827"/>
            <a:ext cx="4168934" cy="1265377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首页喜马拉雅儿童品牌露出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66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1" y="2552400"/>
            <a:ext cx="2286000" cy="11574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合作方</a:t>
            </a:r>
            <a:r>
              <a:rPr lang="en-US" altLang="zh-CN" sz="16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zh-CN" alt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自己的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首页必须标注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 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1" y="1981200"/>
            <a:ext cx="6858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情景四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8502955" y="5867400"/>
            <a:ext cx="307499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9B9EA2"/>
                </a:solidFill>
                <a:latin typeface="Noto Sans SC"/>
                <a:ea typeface="Noto Sans SC"/>
                <a:cs typeface="Noto Sans SC"/>
                <a:sym typeface="Noto Sans SC"/>
              </a:rPr>
              <a:t>示意图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1999" y="2972405"/>
            <a:ext cx="5114485" cy="15915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喜马拉雅儿童</a:t>
            </a:r>
            <a:r>
              <a:rPr lang="en-US" sz="2200" b="1" i="0" u="none" strike="noStrike" dirty="0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200" b="1" i="0" u="none" strike="noStrike" dirty="0" err="1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APP</a:t>
            </a:r>
            <a:r>
              <a:rPr lang="en-US" sz="2200" b="1" dirty="0" err="1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图标</a:t>
            </a:r>
            <a:r>
              <a:rPr lang="en-US" altLang="zh-CN" sz="2200" b="1" dirty="0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altLang="en-US" sz="2200" b="1" dirty="0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用户名称</a:t>
            </a:r>
            <a:r>
              <a:rPr lang="en-US" altLang="zh-CN" sz="2200" b="1" dirty="0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altLang="en-US" sz="2200" b="1" dirty="0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儿童</a:t>
            </a:r>
            <a:r>
              <a:rPr lang="en-US" altLang="zh-CN" sz="2200" b="1" dirty="0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VIP</a:t>
            </a:r>
            <a:r>
              <a:rPr lang="zh-CN" altLang="en-US" sz="2200" b="1" dirty="0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会员到期时间</a:t>
            </a:r>
            <a:r>
              <a:rPr lang="en-US" altLang="zh-CN" sz="2200" b="1" dirty="0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zh-CN" altLang="en-US" sz="2200" b="1" dirty="0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喜马拉雅儿童</a:t>
            </a:r>
            <a:r>
              <a:rPr lang="en-US" altLang="zh-CN" sz="2200" b="1" dirty="0">
                <a:solidFill>
                  <a:srgbClr val="FF6600"/>
                </a:solidFill>
                <a:latin typeface="Noto Sans SC"/>
                <a:ea typeface="Noto Sans SC"/>
                <a:cs typeface="Noto Sans SC"/>
                <a:sym typeface="Noto Sans SC"/>
              </a:rPr>
              <a:t>ID</a:t>
            </a:r>
            <a:endParaRPr lang="en-US" sz="1100" dirty="0"/>
          </a:p>
        </p:txBody>
      </p:sp>
      <p:grpSp>
        <p:nvGrpSpPr>
          <p:cNvPr id="16" name="Group 22">
            <a:extLst>
              <a:ext uri="{FF2B5EF4-FFF2-40B4-BE49-F238E27FC236}">
                <a16:creationId xmlns:a16="http://schemas.microsoft.com/office/drawing/2014/main" id="{31F4DC79-918B-4B4F-A588-E2C112A06235}"/>
              </a:ext>
            </a:extLst>
          </p:cNvPr>
          <p:cNvGrpSpPr/>
          <p:nvPr/>
        </p:nvGrpSpPr>
        <p:grpSpPr>
          <a:xfrm>
            <a:off x="1015215" y="4246955"/>
            <a:ext cx="637422" cy="637422"/>
            <a:chOff x="3683000" y="4620846"/>
            <a:chExt cx="1172308" cy="1172308"/>
          </a:xfrm>
        </p:grpSpPr>
        <p:sp>
          <p:nvSpPr>
            <p:cNvPr id="17" name="AutoShape 23">
              <a:extLst>
                <a:ext uri="{FF2B5EF4-FFF2-40B4-BE49-F238E27FC236}">
                  <a16:creationId xmlns:a16="http://schemas.microsoft.com/office/drawing/2014/main" id="{FD173C82-B51B-1F48-8519-298F9CA1B4D7}"/>
                </a:ext>
              </a:extLst>
            </p:cNvPr>
            <p:cNvSpPr/>
            <p:nvPr/>
          </p:nvSpPr>
          <p:spPr>
            <a:xfrm>
              <a:off x="3683000" y="4620846"/>
              <a:ext cx="1172308" cy="1172308"/>
            </a:xfrm>
            <a:prstGeom prst="ellipse">
              <a:avLst/>
            </a:prstGeom>
            <a:solidFill>
              <a:srgbClr val="FEDC18">
                <a:alpha val="100000"/>
              </a:srgbClr>
            </a:solidFill>
            <a:ln w="25400">
              <a:noFill/>
              <a:prstDash val="solid"/>
            </a:ln>
          </p:spPr>
          <p:txBody>
            <a:bodyPr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8" name="Picture 24">
              <a:extLst>
                <a:ext uri="{FF2B5EF4-FFF2-40B4-BE49-F238E27FC236}">
                  <a16:creationId xmlns:a16="http://schemas.microsoft.com/office/drawing/2014/main" id="{39E089B3-6053-0943-BADA-DD7CA3E46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0" y="4747846"/>
              <a:ext cx="918308" cy="918308"/>
            </a:xfrm>
            <a:prstGeom prst="roundRect">
              <a:avLst>
                <a:gd name="adj" fmla="val 31038"/>
              </a:avLst>
            </a:prstGeom>
            <a:ln w="12700">
              <a:noFill/>
              <a:prstDash val="solid"/>
            </a:ln>
          </p:spPr>
        </p:pic>
      </p:grpSp>
      <p:pic>
        <p:nvPicPr>
          <p:cNvPr id="19" name="Picture 5">
            <a:extLst>
              <a:ext uri="{FF2B5EF4-FFF2-40B4-BE49-F238E27FC236}">
                <a16:creationId xmlns:a16="http://schemas.microsoft.com/office/drawing/2014/main" id="{6B8E2BD9-6CE9-0F48-AEB6-F5472953D3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8" b="288"/>
          <a:stretch/>
        </p:blipFill>
        <p:spPr>
          <a:xfrm>
            <a:off x="7593015" y="845270"/>
            <a:ext cx="2285423" cy="494145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0" name="AutoShape 10">
            <a:extLst>
              <a:ext uri="{FF2B5EF4-FFF2-40B4-BE49-F238E27FC236}">
                <a16:creationId xmlns:a16="http://schemas.microsoft.com/office/drawing/2014/main" id="{F92824B4-42B3-E048-B8BD-57BDC1658A5F}"/>
              </a:ext>
            </a:extLst>
          </p:cNvPr>
          <p:cNvSpPr/>
          <p:nvPr/>
        </p:nvSpPr>
        <p:spPr>
          <a:xfrm>
            <a:off x="7593015" y="1756508"/>
            <a:ext cx="2285423" cy="665416"/>
          </a:xfrm>
          <a:prstGeom prst="roundRect">
            <a:avLst/>
          </a:prstGeom>
          <a:noFill/>
          <a:ln w="25400" cap="flat" cmpd="sng">
            <a:solidFill>
              <a:srgbClr val="FF660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50800" bIns="0" rtlCol="0" anchor="ctr" anchorCtr="0"/>
          <a:lstStyle/>
          <a:p>
            <a:pPr algn="ctr">
              <a:defRPr/>
            </a:pPr>
            <a:endParaRPr/>
          </a:p>
        </p:txBody>
      </p:sp>
      <p:grpSp>
        <p:nvGrpSpPr>
          <p:cNvPr id="21" name="Group 22">
            <a:extLst>
              <a:ext uri="{FF2B5EF4-FFF2-40B4-BE49-F238E27FC236}">
                <a16:creationId xmlns:a16="http://schemas.microsoft.com/office/drawing/2014/main" id="{DA80732C-FA22-0B41-A8FC-B4E45F004FE5}"/>
              </a:ext>
            </a:extLst>
          </p:cNvPr>
          <p:cNvGrpSpPr/>
          <p:nvPr/>
        </p:nvGrpSpPr>
        <p:grpSpPr>
          <a:xfrm>
            <a:off x="7657815" y="1885384"/>
            <a:ext cx="384585" cy="384585"/>
            <a:chOff x="3683000" y="4620846"/>
            <a:chExt cx="1172308" cy="1172308"/>
          </a:xfrm>
        </p:grpSpPr>
        <p:sp>
          <p:nvSpPr>
            <p:cNvPr id="22" name="AutoShape 23">
              <a:extLst>
                <a:ext uri="{FF2B5EF4-FFF2-40B4-BE49-F238E27FC236}">
                  <a16:creationId xmlns:a16="http://schemas.microsoft.com/office/drawing/2014/main" id="{0C28414A-D741-624C-B5DA-DDAFBC12D6F0}"/>
                </a:ext>
              </a:extLst>
            </p:cNvPr>
            <p:cNvSpPr/>
            <p:nvPr/>
          </p:nvSpPr>
          <p:spPr>
            <a:xfrm>
              <a:off x="3683000" y="4620846"/>
              <a:ext cx="1172308" cy="1172308"/>
            </a:xfrm>
            <a:prstGeom prst="ellipse">
              <a:avLst/>
            </a:prstGeom>
            <a:solidFill>
              <a:srgbClr val="FEDC18">
                <a:alpha val="100000"/>
              </a:srgbClr>
            </a:solidFill>
            <a:ln w="25400">
              <a:noFill/>
              <a:prstDash val="solid"/>
            </a:ln>
          </p:spPr>
          <p:txBody>
            <a:bodyPr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23" name="Picture 24">
              <a:extLst>
                <a:ext uri="{FF2B5EF4-FFF2-40B4-BE49-F238E27FC236}">
                  <a16:creationId xmlns:a16="http://schemas.microsoft.com/office/drawing/2014/main" id="{351F87CD-8689-7E43-8DC1-F74CBB7F1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10000" y="4747846"/>
              <a:ext cx="918308" cy="918308"/>
            </a:xfrm>
            <a:prstGeom prst="roundRect">
              <a:avLst>
                <a:gd name="adj" fmla="val 31038"/>
              </a:avLst>
            </a:prstGeom>
            <a:ln w="12700">
              <a:noFill/>
              <a:prstDash val="solid"/>
            </a:ln>
          </p:spPr>
        </p:pic>
      </p:grpSp>
    </p:spTree>
    <p:extLst>
      <p:ext uri="{BB962C8B-B14F-4D97-AF65-F5344CB8AC3E}">
        <p14:creationId xmlns:p14="http://schemas.microsoft.com/office/powerpoint/2010/main" val="1183906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4">
            <a:extLst>
              <a:ext uri="{FF2B5EF4-FFF2-40B4-BE49-F238E27FC236}">
                <a16:creationId xmlns:a16="http://schemas.microsoft.com/office/drawing/2014/main" id="{6B7A13A5-3BCC-4AEE-84AA-D2531C769071}"/>
              </a:ext>
            </a:extLst>
          </p:cNvPr>
          <p:cNvSpPr/>
          <p:nvPr/>
        </p:nvSpPr>
        <p:spPr>
          <a:xfrm>
            <a:off x="654386" y="1788366"/>
            <a:ext cx="5774989" cy="3784414"/>
          </a:xfrm>
          <a:prstGeom prst="roundRect">
            <a:avLst>
              <a:gd name="adj" fmla="val 279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2" name="AutoShape 2"/>
          <p:cNvSpPr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产品包装和电商图片规范：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694253" y="1750030"/>
            <a:ext cx="5735122" cy="58924"/>
          </a:xfrm>
          <a:prstGeom prst="roundRect">
            <a:avLst>
              <a:gd name="adj" fmla="val 0"/>
            </a:avLst>
          </a:prstGeom>
          <a:solidFill>
            <a:srgbClr val="FF66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72282" y="1943261"/>
            <a:ext cx="6858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情景</a:t>
            </a:r>
            <a:r>
              <a:rPr lang="zh-CN" altLang="en-US" sz="18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五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8865019" y="6341423"/>
            <a:ext cx="1027126" cy="2433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9B9EA2"/>
                </a:solidFill>
                <a:latin typeface="Noto Sans SC"/>
                <a:ea typeface="Noto Sans SC"/>
                <a:cs typeface="Noto Sans SC"/>
                <a:sym typeface="Noto Sans SC"/>
              </a:rPr>
              <a:t>示意图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1998" y="3716637"/>
            <a:ext cx="5551253" cy="15915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FF6600"/>
                </a:solidFill>
                <a:latin typeface="Noto Sans SC"/>
                <a:ea typeface="Noto Sans SC"/>
              </a:rPr>
              <a:t>「内置喜马拉雅儿童</a:t>
            </a:r>
            <a:r>
              <a:rPr lang="en-US" altLang="zh-CN" sz="2000" b="1" dirty="0">
                <a:solidFill>
                  <a:srgbClr val="FF6600"/>
                </a:solidFill>
                <a:latin typeface="Noto Sans SC"/>
                <a:ea typeface="Noto Sans SC"/>
              </a:rPr>
              <a:t>app</a:t>
            </a:r>
            <a:r>
              <a:rPr lang="zh-CN" altLang="en-US" sz="2000" b="1" dirty="0">
                <a:solidFill>
                  <a:srgbClr val="FF6600"/>
                </a:solidFill>
                <a:latin typeface="Noto Sans SC"/>
                <a:ea typeface="Noto Sans SC"/>
              </a:rPr>
              <a:t>，与喜马拉雅儿童</a:t>
            </a:r>
            <a:r>
              <a:rPr lang="en-US" altLang="zh-CN" sz="2000" b="1" dirty="0">
                <a:solidFill>
                  <a:srgbClr val="FF6600"/>
                </a:solidFill>
                <a:latin typeface="Noto Sans SC"/>
                <a:ea typeface="Noto Sans SC"/>
              </a:rPr>
              <a:t>VIP</a:t>
            </a:r>
            <a:r>
              <a:rPr lang="zh-CN" altLang="en-US" sz="2000" b="1" dirty="0">
                <a:solidFill>
                  <a:srgbClr val="FF6600"/>
                </a:solidFill>
                <a:latin typeface="Noto Sans SC"/>
                <a:ea typeface="Noto Sans SC"/>
              </a:rPr>
              <a:t>会员账户打通」</a:t>
            </a:r>
            <a:endParaRPr lang="en-US" sz="2000" b="1" dirty="0">
              <a:solidFill>
                <a:srgbClr val="FF6600"/>
              </a:solidFill>
              <a:latin typeface="Noto Sans SC"/>
              <a:ea typeface="Noto Sans SC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011EF5-239A-46BA-B2E4-BB457E02F6A0}"/>
              </a:ext>
            </a:extLst>
          </p:cNvPr>
          <p:cNvSpPr txBox="1"/>
          <p:nvPr/>
        </p:nvSpPr>
        <p:spPr>
          <a:xfrm>
            <a:off x="761998" y="2527639"/>
            <a:ext cx="56673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❌内容合作不提供品牌授权，因此合作方的产品外包装和电商主图上，禁止出现喜马拉雅儿童</a:t>
            </a:r>
            <a:r>
              <a:rPr lang="en-US" altLang="zh-CN" sz="14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logo</a:t>
            </a:r>
            <a:r>
              <a:rPr lang="zh-CN" altLang="en-US" sz="14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，避免造成联名歧义；</a:t>
            </a:r>
            <a:endParaRPr lang="en-US" altLang="zh-CN" sz="1400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endParaRPr lang="en-US" altLang="zh-CN" dirty="0">
              <a:solidFill>
                <a:srgbClr val="1F2329"/>
              </a:solidFill>
              <a:latin typeface="Noto Sans SC"/>
              <a:ea typeface="Noto Sans SC"/>
              <a:sym typeface="Noto Sans SC"/>
            </a:endParaRPr>
          </a:p>
          <a:p>
            <a:r>
              <a:rPr lang="zh-CN" altLang="en-US" dirty="0"/>
              <a:t>✅允许售前页</a:t>
            </a:r>
            <a:r>
              <a:rPr lang="en-US" altLang="zh-CN" dirty="0"/>
              <a:t>&amp;</a:t>
            </a:r>
            <a:r>
              <a:rPr lang="zh-CN" altLang="en-US" dirty="0"/>
              <a:t>产品说明书中有一部分介绍喜马拉雅儿童</a:t>
            </a:r>
            <a:r>
              <a:rPr lang="en-US" altLang="zh-CN" dirty="0"/>
              <a:t>app</a:t>
            </a:r>
            <a:r>
              <a:rPr lang="zh-CN" altLang="en-US" dirty="0"/>
              <a:t>，标准话术为：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✅允许出现周卡</a:t>
            </a:r>
            <a:r>
              <a:rPr lang="en-US" altLang="zh-CN" dirty="0"/>
              <a:t>/</a:t>
            </a:r>
            <a:r>
              <a:rPr lang="zh-CN" altLang="en-US" dirty="0"/>
              <a:t>月卡</a:t>
            </a:r>
            <a:r>
              <a:rPr lang="en-US" altLang="zh-CN" dirty="0"/>
              <a:t>/</a:t>
            </a:r>
            <a:r>
              <a:rPr lang="zh-CN" altLang="en-US" dirty="0"/>
              <a:t>年卡等卡种宣传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不可脱离以上文案规范，单独宣传内容！</a:t>
            </a:r>
            <a:endParaRPr lang="en-US" altLang="zh-CN" b="1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CA1B2E-1D33-06AB-EAD4-F5C4F15190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722" b="19134"/>
          <a:stretch/>
        </p:blipFill>
        <p:spPr>
          <a:xfrm>
            <a:off x="7653341" y="1779492"/>
            <a:ext cx="3038354" cy="391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4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产品包装和电商图片规范：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7D8030-8CEA-2521-D4BC-38F3602B6D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589" b="31429"/>
          <a:stretch/>
        </p:blipFill>
        <p:spPr>
          <a:xfrm>
            <a:off x="2030520" y="1737672"/>
            <a:ext cx="3038354" cy="30163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C984C2-E6BF-68BA-596A-3461F642BC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281" b="32295"/>
          <a:stretch/>
        </p:blipFill>
        <p:spPr>
          <a:xfrm>
            <a:off x="6251244" y="1733798"/>
            <a:ext cx="3154014" cy="3020207"/>
          </a:xfrm>
          <a:prstGeom prst="rect">
            <a:avLst/>
          </a:prstGeom>
        </p:spPr>
      </p:pic>
      <p:sp>
        <p:nvSpPr>
          <p:cNvPr id="11" name="AutoShape 7">
            <a:extLst>
              <a:ext uri="{FF2B5EF4-FFF2-40B4-BE49-F238E27FC236}">
                <a16:creationId xmlns:a16="http://schemas.microsoft.com/office/drawing/2014/main" id="{D9AF462E-104B-CFE2-5515-63BFC24EEB04}"/>
              </a:ext>
            </a:extLst>
          </p:cNvPr>
          <p:cNvSpPr/>
          <p:nvPr/>
        </p:nvSpPr>
        <p:spPr>
          <a:xfrm>
            <a:off x="5068874" y="5555720"/>
            <a:ext cx="1027126" cy="2433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9B9EA2"/>
                </a:solidFill>
                <a:latin typeface="Noto Sans SC"/>
                <a:ea typeface="Noto Sans SC"/>
                <a:cs typeface="Noto Sans SC"/>
                <a:sym typeface="Noto Sans SC"/>
              </a:rPr>
              <a:t>卡种宣传示意图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24160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373</Words>
  <Application>Microsoft Macintosh PowerPoint</Application>
  <PresentationFormat>宽屏</PresentationFormat>
  <Paragraphs>67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xmly</cp:lastModifiedBy>
  <cp:revision>5</cp:revision>
  <dcterms:modified xsi:type="dcterms:W3CDTF">2026-08-17T11:17:15Z</dcterms:modified>
</cp:coreProperties>
</file>